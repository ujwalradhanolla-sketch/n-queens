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65CAA"/>
                </a:solidFill>
                <a:latin typeface="Aptos Display"/>
              </a:rPr>
              <a:t>N-QUEENS VISUALIZER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28600"/>
            <a:ext cx="502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646C78"/>
                </a:solidFill>
                <a:latin typeface="Aptos Display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8368"/>
            <a:ext cx="11155680" cy="22860"/>
          </a:xfrm>
          <a:prstGeom prst="rect">
            <a:avLst/>
          </a:prstGeom>
          <a:solidFill>
            <a:srgbClr val="26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45720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265CAA"/>
                </a:solidFill>
                <a:latin typeface="Aptos Display"/>
              </a:rPr>
              <a:t>DAA HACKATHON • PROBLEM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566928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200" b="1">
                <a:solidFill>
                  <a:srgbClr val="141923"/>
                </a:solidFill>
                <a:latin typeface="Aptos Display"/>
              </a:rPr>
              <a:t>N-QUEENS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14600"/>
            <a:ext cx="50292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265CAA"/>
                </a:solidFill>
                <a:latin typeface="Aptos Display"/>
              </a:rPr>
              <a:t>VISUALIZER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154680"/>
            <a:ext cx="53035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0">
                <a:solidFill>
                  <a:srgbClr val="646C78"/>
                </a:solidFill>
                <a:latin typeface="Aptos Display"/>
              </a:rPr>
              <a:t>Where backtracking becomes visible.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242048" y="1161288"/>
            <a:ext cx="3986784" cy="3986784"/>
          </a:xfrm>
          <a:prstGeom prst="rect">
            <a:avLst/>
          </a:prstGeom>
          <a:solidFill>
            <a:srgbClr val="FFFFFF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1234440"/>
            <a:ext cx="480060" cy="4800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95260" y="1234440"/>
            <a:ext cx="480060" cy="4800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75320" y="1234440"/>
            <a:ext cx="480060" cy="4800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55380" y="1234440"/>
            <a:ext cx="480060" cy="4800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35440" y="1234440"/>
            <a:ext cx="480060" cy="4800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715500" y="1234440"/>
            <a:ext cx="480060" cy="4800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195560" y="1234440"/>
            <a:ext cx="480060" cy="4800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75620" y="1234440"/>
            <a:ext cx="480060" cy="4800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1714500"/>
            <a:ext cx="480060" cy="4800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95260" y="1714500"/>
            <a:ext cx="480060" cy="4800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75320" y="1714500"/>
            <a:ext cx="480060" cy="4800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55380" y="1714500"/>
            <a:ext cx="480060" cy="4800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35440" y="1714500"/>
            <a:ext cx="480060" cy="4800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715500" y="1714500"/>
            <a:ext cx="480060" cy="4800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195560" y="1714500"/>
            <a:ext cx="480060" cy="4800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675620" y="1714500"/>
            <a:ext cx="480060" cy="4800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0" y="2194560"/>
            <a:ext cx="480060" cy="4800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95260" y="2194560"/>
            <a:ext cx="480060" cy="4800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75320" y="2194560"/>
            <a:ext cx="480060" cy="4800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755380" y="2194560"/>
            <a:ext cx="480060" cy="4800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35440" y="2194560"/>
            <a:ext cx="480060" cy="4800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715500" y="2194560"/>
            <a:ext cx="480060" cy="4800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195560" y="2194560"/>
            <a:ext cx="480060" cy="4800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675620" y="2194560"/>
            <a:ext cx="480060" cy="4800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0" y="2674620"/>
            <a:ext cx="480060" cy="4800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95260" y="2674620"/>
            <a:ext cx="480060" cy="4800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75320" y="2674620"/>
            <a:ext cx="480060" cy="4800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755380" y="2674620"/>
            <a:ext cx="480060" cy="4800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35440" y="2674620"/>
            <a:ext cx="480060" cy="4800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715500" y="2674620"/>
            <a:ext cx="480060" cy="4800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195560" y="2674620"/>
            <a:ext cx="480060" cy="4800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675620" y="2674620"/>
            <a:ext cx="480060" cy="4800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0" y="3154680"/>
            <a:ext cx="480060" cy="4800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95260" y="3154680"/>
            <a:ext cx="480060" cy="4800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75320" y="3154680"/>
            <a:ext cx="480060" cy="4800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755380" y="3154680"/>
            <a:ext cx="480060" cy="4800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235440" y="3154680"/>
            <a:ext cx="480060" cy="4800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715500" y="3154680"/>
            <a:ext cx="480060" cy="4800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195560" y="3154680"/>
            <a:ext cx="480060" cy="4800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675620" y="3154680"/>
            <a:ext cx="480060" cy="4800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315200" y="3634740"/>
            <a:ext cx="480060" cy="4800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795260" y="3634740"/>
            <a:ext cx="480060" cy="4800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275320" y="3634740"/>
            <a:ext cx="480060" cy="4800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755380" y="3634740"/>
            <a:ext cx="480060" cy="4800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235440" y="3634740"/>
            <a:ext cx="480060" cy="4800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715500" y="3634740"/>
            <a:ext cx="480060" cy="4800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195560" y="3634740"/>
            <a:ext cx="480060" cy="4800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675620" y="3634740"/>
            <a:ext cx="480060" cy="4800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315200" y="4114800"/>
            <a:ext cx="480060" cy="4800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795260" y="4114800"/>
            <a:ext cx="480060" cy="4800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275320" y="4114800"/>
            <a:ext cx="480060" cy="4800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755380" y="4114800"/>
            <a:ext cx="480060" cy="4800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235440" y="4114800"/>
            <a:ext cx="480060" cy="4800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715500" y="4114800"/>
            <a:ext cx="480060" cy="4800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195560" y="4114800"/>
            <a:ext cx="480060" cy="4800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675620" y="4114800"/>
            <a:ext cx="480060" cy="4800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315200" y="4594860"/>
            <a:ext cx="480060" cy="4800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795260" y="4594860"/>
            <a:ext cx="480060" cy="4800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275320" y="4594860"/>
            <a:ext cx="480060" cy="4800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755380" y="4594860"/>
            <a:ext cx="480060" cy="4800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235440" y="4594860"/>
            <a:ext cx="480060" cy="4800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715500" y="4594860"/>
            <a:ext cx="480060" cy="4800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195560" y="4594860"/>
            <a:ext cx="480060" cy="4800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675620" y="4594860"/>
            <a:ext cx="480060" cy="4800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387208" y="1292047"/>
            <a:ext cx="336042" cy="3648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80">
                <a:solidFill>
                  <a:srgbClr val="141923"/>
                </a:solidFill>
                <a:latin typeface="DejaVu Sans"/>
              </a:rPr>
              <a:t>♛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307449" y="1772107"/>
            <a:ext cx="336042" cy="3648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80">
                <a:solidFill>
                  <a:srgbClr val="141923"/>
                </a:solidFill>
                <a:latin typeface="DejaVu Sans"/>
              </a:rPr>
              <a:t>♛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747629" y="2252167"/>
            <a:ext cx="336042" cy="3648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80">
                <a:solidFill>
                  <a:srgbClr val="141923"/>
                </a:solidFill>
                <a:latin typeface="DejaVu Sans"/>
              </a:rPr>
              <a:t>♛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787509" y="2732227"/>
            <a:ext cx="336042" cy="3648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80">
                <a:solidFill>
                  <a:srgbClr val="141923"/>
                </a:solidFill>
                <a:latin typeface="DejaVu Sans"/>
              </a:rPr>
              <a:t>♛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47329" y="3212287"/>
            <a:ext cx="336042" cy="3648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80">
                <a:solidFill>
                  <a:srgbClr val="141923"/>
                </a:solidFill>
                <a:latin typeface="DejaVu Sans"/>
              </a:rPr>
              <a:t>♛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267569" y="3692347"/>
            <a:ext cx="336042" cy="3648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80">
                <a:solidFill>
                  <a:srgbClr val="141923"/>
                </a:solidFill>
                <a:latin typeface="DejaVu Sans"/>
              </a:rPr>
              <a:t>♛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67269" y="4172407"/>
            <a:ext cx="336042" cy="3648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80">
                <a:solidFill>
                  <a:srgbClr val="141923"/>
                </a:solidFill>
                <a:latin typeface="DejaVu Sans"/>
              </a:rPr>
              <a:t>♛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827388" y="4652467"/>
            <a:ext cx="336042" cy="3648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80">
                <a:solidFill>
                  <a:srgbClr val="141923"/>
                </a:solidFill>
                <a:latin typeface="DejaVu Sans"/>
              </a:rPr>
              <a:t>♛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995160" y="5349240"/>
            <a:ext cx="4434840" cy="59436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132320" y="5440680"/>
            <a:ext cx="41605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65CAA"/>
                </a:solidFill>
                <a:latin typeface="Aptos Display"/>
              </a:rPr>
              <a:t>TRY  →  CHECK  →  BACKTRACK  →  SOLVE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65CAA"/>
                </a:solidFill>
                <a:latin typeface="Aptos Display"/>
              </a:rPr>
              <a:t>N-QUEENS VISUALIZER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28600"/>
            <a:ext cx="502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646C78"/>
                </a:solidFill>
                <a:latin typeface="Aptos Display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8368"/>
            <a:ext cx="11155680" cy="22860"/>
          </a:xfrm>
          <a:prstGeom prst="rect">
            <a:avLst/>
          </a:prstGeom>
          <a:solidFill>
            <a:srgbClr val="26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87552"/>
            <a:ext cx="65836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900" b="1">
                <a:solidFill>
                  <a:srgbClr val="141923"/>
                </a:solidFill>
                <a:latin typeface="Aptos Display"/>
              </a:rPr>
              <a:t>Can N queens share one board?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27632"/>
            <a:ext cx="6217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646C78"/>
                </a:solidFill>
                <a:latin typeface="Aptos Display"/>
              </a:rPr>
              <a:t>The hackathon problem asks us to make the decision process visible.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836408" y="1069848"/>
            <a:ext cx="3392424" cy="3392424"/>
          </a:xfrm>
          <a:prstGeom prst="rect">
            <a:avLst/>
          </a:prstGeom>
          <a:solidFill>
            <a:srgbClr val="FFFFFF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09560" y="1143000"/>
            <a:ext cx="405765" cy="405765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315325" y="1143000"/>
            <a:ext cx="405765" cy="405765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721090" y="1143000"/>
            <a:ext cx="405765" cy="405765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26855" y="1143000"/>
            <a:ext cx="405765" cy="405765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532620" y="1143000"/>
            <a:ext cx="405765" cy="405765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938385" y="1143000"/>
            <a:ext cx="405765" cy="405765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344150" y="1143000"/>
            <a:ext cx="405765" cy="405765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749915" y="1143000"/>
            <a:ext cx="405765" cy="405765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09560" y="1548765"/>
            <a:ext cx="405765" cy="405765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15325" y="1548765"/>
            <a:ext cx="405765" cy="405765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21090" y="1548765"/>
            <a:ext cx="405765" cy="405765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26855" y="1548765"/>
            <a:ext cx="405765" cy="405765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32620" y="1548765"/>
            <a:ext cx="405765" cy="405765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938385" y="1548765"/>
            <a:ext cx="405765" cy="405765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344150" y="1548765"/>
            <a:ext cx="405765" cy="405765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749915" y="1548765"/>
            <a:ext cx="405765" cy="405765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09560" y="1954530"/>
            <a:ext cx="405765" cy="405765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15325" y="1954530"/>
            <a:ext cx="405765" cy="405765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21090" y="1954530"/>
            <a:ext cx="405765" cy="405765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26855" y="1954530"/>
            <a:ext cx="405765" cy="405765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532620" y="1954530"/>
            <a:ext cx="405765" cy="405765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938385" y="1954530"/>
            <a:ext cx="405765" cy="405765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344150" y="1954530"/>
            <a:ext cx="405765" cy="405765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749915" y="1954530"/>
            <a:ext cx="405765" cy="405765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9560" y="2360295"/>
            <a:ext cx="405765" cy="405765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15325" y="2360295"/>
            <a:ext cx="405765" cy="405765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721090" y="2360295"/>
            <a:ext cx="405765" cy="405765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26855" y="2360295"/>
            <a:ext cx="405765" cy="405765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32620" y="2360295"/>
            <a:ext cx="405765" cy="405765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938385" y="2360295"/>
            <a:ext cx="405765" cy="405765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344150" y="2360295"/>
            <a:ext cx="405765" cy="405765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749915" y="2360295"/>
            <a:ext cx="405765" cy="405765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09560" y="2766060"/>
            <a:ext cx="405765" cy="405765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315325" y="2766060"/>
            <a:ext cx="405765" cy="405765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721090" y="2766060"/>
            <a:ext cx="405765" cy="405765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126855" y="2766060"/>
            <a:ext cx="405765" cy="405765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532620" y="2766060"/>
            <a:ext cx="405765" cy="405765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938385" y="2766060"/>
            <a:ext cx="405765" cy="405765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344150" y="2766060"/>
            <a:ext cx="405765" cy="405765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49915" y="2766060"/>
            <a:ext cx="405765" cy="405765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909560" y="3171825"/>
            <a:ext cx="405765" cy="405765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315325" y="3171825"/>
            <a:ext cx="405765" cy="405765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721090" y="3171825"/>
            <a:ext cx="405765" cy="405765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126855" y="3171825"/>
            <a:ext cx="405765" cy="405765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532620" y="3171825"/>
            <a:ext cx="405765" cy="405765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938385" y="3171825"/>
            <a:ext cx="405765" cy="405765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344150" y="3171825"/>
            <a:ext cx="405765" cy="405765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749915" y="3171825"/>
            <a:ext cx="405765" cy="405765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909560" y="3577589"/>
            <a:ext cx="405765" cy="405765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315325" y="3577589"/>
            <a:ext cx="405765" cy="405765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721090" y="3577589"/>
            <a:ext cx="405765" cy="405765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126855" y="3577589"/>
            <a:ext cx="405765" cy="405765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532620" y="3577589"/>
            <a:ext cx="405765" cy="405765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938385" y="3577589"/>
            <a:ext cx="405765" cy="405765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344150" y="3577589"/>
            <a:ext cx="405765" cy="405765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749915" y="3577589"/>
            <a:ext cx="405765" cy="405765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909560" y="3983354"/>
            <a:ext cx="405765" cy="405765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315325" y="3983354"/>
            <a:ext cx="405765" cy="405765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721090" y="3983354"/>
            <a:ext cx="405765" cy="405765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126855" y="3983354"/>
            <a:ext cx="405765" cy="405765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532620" y="3983354"/>
            <a:ext cx="405765" cy="405765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938385" y="3983354"/>
            <a:ext cx="405765" cy="405765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344150" y="3983354"/>
            <a:ext cx="405765" cy="405765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749915" y="3983354"/>
            <a:ext cx="405765" cy="405765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970424" y="1191691"/>
            <a:ext cx="284035" cy="3083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20">
                <a:solidFill>
                  <a:srgbClr val="141923"/>
                </a:solidFill>
                <a:latin typeface="DejaVu Sans"/>
              </a:rPr>
              <a:t>♛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593484" y="1597456"/>
            <a:ext cx="284035" cy="3083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20">
                <a:solidFill>
                  <a:srgbClr val="141923"/>
                </a:solidFill>
                <a:latin typeface="DejaVu Sans"/>
              </a:rPr>
              <a:t>♛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810779" y="2003221"/>
            <a:ext cx="284035" cy="3083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20">
                <a:solidFill>
                  <a:srgbClr val="141923"/>
                </a:solidFill>
                <a:latin typeface="DejaVu Sans"/>
              </a:rPr>
              <a:t>♛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999249" y="2408986"/>
            <a:ext cx="284035" cy="3083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20">
                <a:solidFill>
                  <a:srgbClr val="141923"/>
                </a:solidFill>
                <a:latin typeface="DejaVu Sans"/>
              </a:rPr>
              <a:t>♛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781954" y="2814751"/>
            <a:ext cx="284035" cy="3083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20">
                <a:solidFill>
                  <a:srgbClr val="141923"/>
                </a:solidFill>
                <a:latin typeface="DejaVu Sans"/>
              </a:rPr>
              <a:t>♛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405014" y="3220516"/>
            <a:ext cx="284035" cy="3083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20">
                <a:solidFill>
                  <a:srgbClr val="141923"/>
                </a:solidFill>
                <a:latin typeface="DejaVu Sans"/>
              </a:rPr>
              <a:t>♛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76189" y="3626281"/>
            <a:ext cx="284035" cy="3083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20">
                <a:solidFill>
                  <a:srgbClr val="141923"/>
                </a:solidFill>
                <a:latin typeface="DejaVu Sans"/>
              </a:rPr>
              <a:t>♛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187719" y="4032046"/>
            <a:ext cx="284035" cy="3083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20">
                <a:solidFill>
                  <a:srgbClr val="141923"/>
                </a:solidFill>
                <a:latin typeface="DejaVu Sans"/>
              </a:rPr>
              <a:t>♛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94360" y="2331720"/>
            <a:ext cx="65379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777240" y="2551176"/>
            <a:ext cx="384048" cy="384048"/>
          </a:xfrm>
          <a:prstGeom prst="ellipse">
            <a:avLst/>
          </a:prstGeom>
          <a:solidFill>
            <a:srgbClr val="2D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325880" y="2404872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2D915C"/>
                </a:solidFill>
                <a:latin typeface="Aptos Display"/>
              </a:rPr>
              <a:t>SAFE PLACEMENT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325880" y="2715768"/>
            <a:ext cx="53035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46C78"/>
                </a:solidFill>
                <a:latin typeface="Aptos Display"/>
              </a:rPr>
              <a:t>No two queens may share a column or diagonal.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94360" y="3264408"/>
            <a:ext cx="65379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777240" y="3483863"/>
            <a:ext cx="384048" cy="384048"/>
          </a:xfrm>
          <a:prstGeom prst="ellipse">
            <a:avLst/>
          </a:prstGeom>
          <a:solidFill>
            <a:srgbClr val="CD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325880" y="3337560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CD4646"/>
                </a:solidFill>
                <a:latin typeface="Aptos Display"/>
              </a:rPr>
              <a:t>CONFLICT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325880" y="3648456"/>
            <a:ext cx="53035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46C78"/>
                </a:solidFill>
                <a:latin typeface="Aptos Display"/>
              </a:rPr>
              <a:t>A rejected position is highlighted and counted.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94360" y="4197096"/>
            <a:ext cx="65379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777240" y="4416552"/>
            <a:ext cx="384048" cy="384048"/>
          </a:xfrm>
          <a:prstGeom prst="ellipse">
            <a:avLst/>
          </a:prstGeom>
          <a:solidFill>
            <a:srgbClr val="26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325880" y="4270248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265CAA"/>
                </a:solidFill>
                <a:latin typeface="Aptos Display"/>
              </a:rPr>
              <a:t>BACKTRACK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25880" y="4581144"/>
            <a:ext cx="53035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46C78"/>
                </a:solidFill>
                <a:latin typeface="Aptos Display"/>
              </a:rPr>
              <a:t>Undo the last decision when a branch fails.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94360" y="5129783"/>
            <a:ext cx="65379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777240" y="5349240"/>
            <a:ext cx="384048" cy="384048"/>
          </a:xfrm>
          <a:prstGeom prst="ellipse">
            <a:avLst/>
          </a:prstGeom>
          <a:solidFill>
            <a:srgbClr val="D69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325880" y="5202936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D69D2D"/>
                </a:solidFill>
                <a:latin typeface="Aptos Display"/>
              </a:rPr>
              <a:t>STATISTICS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325880" y="5513831"/>
            <a:ext cx="53035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46C78"/>
                </a:solidFill>
                <a:latin typeface="Aptos Display"/>
              </a:rPr>
              <a:t>Show solutions, decisions, conflicts and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65CAA"/>
                </a:solidFill>
                <a:latin typeface="Aptos Display"/>
              </a:rPr>
              <a:t>N-QUEENS VISUALIZER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28600"/>
            <a:ext cx="502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646C78"/>
                </a:solidFill>
                <a:latin typeface="Aptos Display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8368"/>
            <a:ext cx="11155680" cy="22860"/>
          </a:xfrm>
          <a:prstGeom prst="rect">
            <a:avLst/>
          </a:prstGeom>
          <a:solidFill>
            <a:srgbClr val="26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87552"/>
            <a:ext cx="96012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900" b="1">
                <a:solidFill>
                  <a:srgbClr val="141923"/>
                </a:solidFill>
                <a:latin typeface="Aptos Display"/>
              </a:rPr>
              <a:t>Turn an invisible algorithm into a visual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411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265CAA"/>
                </a:solidFill>
                <a:latin typeface="Aptos Display"/>
              </a:rP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423160"/>
            <a:ext cx="260604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502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265CAA"/>
                </a:solidFill>
                <a:latin typeface="Aptos Display"/>
              </a:rPr>
              <a:t>01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154680"/>
            <a:ext cx="594360" cy="594360"/>
          </a:xfrm>
          <a:prstGeom prst="ellipse">
            <a:avLst/>
          </a:prstGeom>
          <a:solidFill>
            <a:srgbClr val="26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886200"/>
            <a:ext cx="2148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141923"/>
                </a:solidFill>
                <a:latin typeface="Aptos Display"/>
              </a:rPr>
              <a:t>Place safely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43400"/>
            <a:ext cx="21488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46C78"/>
                </a:solidFill>
                <a:latin typeface="Aptos Display"/>
              </a:rPr>
              <a:t>Build the solution row by row.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79" y="2423160"/>
            <a:ext cx="260604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79" y="2651760"/>
            <a:ext cx="502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CD4646"/>
                </a:solidFill>
                <a:latin typeface="Aptos Display"/>
              </a:rPr>
              <a:t>02</a:t>
            </a:r>
          </a:p>
        </p:txBody>
      </p:sp>
      <p:sp>
        <p:nvSpPr>
          <p:cNvPr id="14" name="Oval 13"/>
          <p:cNvSpPr/>
          <p:nvPr/>
        </p:nvSpPr>
        <p:spPr>
          <a:xfrm>
            <a:off x="3611879" y="3154680"/>
            <a:ext cx="594360" cy="594360"/>
          </a:xfrm>
          <a:prstGeom prst="ellipse">
            <a:avLst/>
          </a:prstGeom>
          <a:solidFill>
            <a:srgbClr val="CD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79" y="3886200"/>
            <a:ext cx="2148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141923"/>
                </a:solidFill>
                <a:latin typeface="Aptos Display"/>
              </a:rPr>
              <a:t>Detect conflict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79" y="4343400"/>
            <a:ext cx="21488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46C78"/>
                </a:solidFill>
                <a:latin typeface="Aptos Display"/>
              </a:rPr>
              <a:t>Check columns and diagonals.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423160"/>
            <a:ext cx="260604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651760"/>
            <a:ext cx="502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D69D2D"/>
                </a:solidFill>
                <a:latin typeface="Aptos Display"/>
              </a:rPr>
              <a:t>03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3154680"/>
            <a:ext cx="594360" cy="594360"/>
          </a:xfrm>
          <a:prstGeom prst="ellipse">
            <a:avLst/>
          </a:prstGeom>
          <a:solidFill>
            <a:srgbClr val="D69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886200"/>
            <a:ext cx="2148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141923"/>
                </a:solidFill>
                <a:latin typeface="Aptos Display"/>
              </a:rPr>
              <a:t>Backtrack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343400"/>
            <a:ext cx="21488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46C78"/>
                </a:solidFill>
                <a:latin typeface="Aptos Display"/>
              </a:rPr>
              <a:t>Undo failed choices.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2423160"/>
            <a:ext cx="260604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20" y="2651760"/>
            <a:ext cx="502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2D915C"/>
                </a:solidFill>
                <a:latin typeface="Aptos Display"/>
              </a:rPr>
              <a:t>04</a:t>
            </a:r>
          </a:p>
        </p:txBody>
      </p:sp>
      <p:sp>
        <p:nvSpPr>
          <p:cNvPr id="24" name="Oval 23"/>
          <p:cNvSpPr/>
          <p:nvPr/>
        </p:nvSpPr>
        <p:spPr>
          <a:xfrm>
            <a:off x="9189720" y="3154680"/>
            <a:ext cx="594360" cy="594360"/>
          </a:xfrm>
          <a:prstGeom prst="ellipse">
            <a:avLst/>
          </a:prstGeom>
          <a:solidFill>
            <a:srgbClr val="2D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20" y="3886200"/>
            <a:ext cx="2148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141923"/>
                </a:solidFill>
                <a:latin typeface="Aptos Display"/>
              </a:rPr>
              <a:t>Measure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4343400"/>
            <a:ext cx="21488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46C78"/>
                </a:solidFill>
                <a:latin typeface="Aptos Display"/>
              </a:rPr>
              <a:t>Count decisions and solutions.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65CAA"/>
                </a:solidFill>
                <a:latin typeface="Aptos Display"/>
              </a:rPr>
              <a:t>N-QUEENS VISUALIZER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28600"/>
            <a:ext cx="502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646C78"/>
                </a:solidFill>
                <a:latin typeface="Aptos Display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8368"/>
            <a:ext cx="11155680" cy="22860"/>
          </a:xfrm>
          <a:prstGeom prst="rect">
            <a:avLst/>
          </a:prstGeom>
          <a:solidFill>
            <a:srgbClr val="26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87552"/>
            <a:ext cx="10058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900" b="1">
                <a:solidFill>
                  <a:srgbClr val="141923"/>
                </a:solidFill>
                <a:latin typeface="Aptos Display"/>
              </a:rPr>
              <a:t>Backtracking: try → test → continue → undo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57400"/>
            <a:ext cx="24688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2057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265CAA"/>
                </a:solidFill>
                <a:latin typeface="Aptos Display"/>
              </a:rPr>
              <a:t>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20116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0">
                <a:solidFill>
                  <a:srgbClr val="646C78"/>
                </a:solidFill>
                <a:latin typeface="Aptos Display"/>
              </a:rPr>
              <a:t>Choose a column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0672" y="2743200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265CAA"/>
                </a:solidFill>
                <a:latin typeface="Aptos Display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057400"/>
            <a:ext cx="24688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331720"/>
            <a:ext cx="2057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CD4646"/>
                </a:solidFill>
                <a:latin typeface="Aptos Display"/>
              </a:rPr>
              <a:t>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880360"/>
            <a:ext cx="20116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0">
                <a:solidFill>
                  <a:srgbClr val="646C78"/>
                </a:solidFill>
                <a:latin typeface="Aptos Display"/>
              </a:rPr>
              <a:t>Check conflicts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33872" y="2743200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265CAA"/>
                </a:solidFill>
                <a:latin typeface="Aptos Display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2057400"/>
            <a:ext cx="24688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2331720"/>
            <a:ext cx="2057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2D915C"/>
                </a:solidFill>
                <a:latin typeface="Aptos Display"/>
              </a:rPr>
              <a:t>PLACE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880360"/>
            <a:ext cx="20116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0">
                <a:solidFill>
                  <a:srgbClr val="646C78"/>
                </a:solidFill>
                <a:latin typeface="Aptos Display"/>
              </a:rPr>
              <a:t>Keep if safe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2743200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265CAA"/>
                </a:solidFill>
                <a:latin typeface="Aptos Display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2057400"/>
            <a:ext cx="24688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2331720"/>
            <a:ext cx="2057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D69D2D"/>
                </a:solidFill>
                <a:latin typeface="Aptos Display"/>
              </a:rPr>
              <a:t>UNDO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880360"/>
            <a:ext cx="20116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0">
                <a:solidFill>
                  <a:srgbClr val="646C78"/>
                </a:solidFill>
                <a:latin typeface="Aptos Display"/>
              </a:rPr>
              <a:t>Reverse a failed branch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5968" y="4315968"/>
            <a:ext cx="2980944" cy="2980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4389120"/>
            <a:ext cx="354330" cy="35433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43450" y="4389120"/>
            <a:ext cx="354330" cy="35433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97780" y="4389120"/>
            <a:ext cx="354330" cy="35433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52110" y="4389120"/>
            <a:ext cx="354330" cy="35433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06440" y="4389120"/>
            <a:ext cx="354330" cy="35433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60770" y="4389120"/>
            <a:ext cx="354330" cy="35433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15100" y="4389120"/>
            <a:ext cx="354330" cy="35433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69429" y="4389120"/>
            <a:ext cx="354330" cy="35433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89120" y="4743450"/>
            <a:ext cx="354330" cy="35433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43450" y="4743450"/>
            <a:ext cx="354330" cy="35433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97780" y="4743450"/>
            <a:ext cx="354330" cy="35433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52110" y="4743450"/>
            <a:ext cx="354330" cy="35433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806440" y="4743450"/>
            <a:ext cx="354330" cy="35433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60770" y="4743450"/>
            <a:ext cx="354330" cy="35433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15100" y="4743450"/>
            <a:ext cx="354330" cy="35433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869429" y="4743450"/>
            <a:ext cx="354330" cy="35433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89120" y="5097780"/>
            <a:ext cx="354330" cy="35433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743450" y="5097780"/>
            <a:ext cx="354330" cy="35433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97780" y="5097780"/>
            <a:ext cx="354330" cy="35433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52110" y="5097780"/>
            <a:ext cx="354330" cy="35433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06440" y="5097780"/>
            <a:ext cx="354330" cy="35433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60770" y="5097780"/>
            <a:ext cx="354330" cy="35433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15100" y="5097780"/>
            <a:ext cx="354330" cy="35433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69429" y="5097780"/>
            <a:ext cx="354330" cy="35433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389120" y="5452110"/>
            <a:ext cx="354330" cy="35433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43450" y="5452110"/>
            <a:ext cx="354330" cy="35433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97780" y="5452110"/>
            <a:ext cx="354330" cy="35433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452110" y="5452110"/>
            <a:ext cx="354330" cy="35433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806440" y="5452110"/>
            <a:ext cx="354330" cy="35433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60770" y="5452110"/>
            <a:ext cx="354330" cy="35433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515100" y="5452110"/>
            <a:ext cx="354330" cy="35433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869429" y="5452110"/>
            <a:ext cx="354330" cy="35433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89120" y="5806440"/>
            <a:ext cx="354330" cy="35433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743450" y="5806440"/>
            <a:ext cx="354330" cy="35433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097780" y="5806440"/>
            <a:ext cx="354330" cy="35433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52110" y="5806440"/>
            <a:ext cx="354330" cy="35433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806440" y="5806440"/>
            <a:ext cx="354330" cy="35433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160770" y="5806440"/>
            <a:ext cx="354330" cy="35433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515100" y="5806440"/>
            <a:ext cx="354330" cy="35433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869429" y="5806440"/>
            <a:ext cx="354330" cy="35433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389120" y="6160770"/>
            <a:ext cx="354330" cy="35433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743450" y="6160770"/>
            <a:ext cx="354330" cy="35433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097780" y="6160770"/>
            <a:ext cx="354330" cy="35433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52110" y="6160770"/>
            <a:ext cx="354330" cy="35433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806440" y="6160770"/>
            <a:ext cx="354330" cy="35433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60770" y="6160770"/>
            <a:ext cx="354330" cy="35433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515100" y="6160770"/>
            <a:ext cx="354330" cy="35433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869429" y="6160770"/>
            <a:ext cx="354330" cy="35433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389120" y="6515100"/>
            <a:ext cx="354330" cy="35433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743450" y="6515100"/>
            <a:ext cx="354330" cy="35433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097780" y="6515100"/>
            <a:ext cx="354330" cy="35433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452110" y="6515100"/>
            <a:ext cx="354330" cy="35433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806440" y="6515100"/>
            <a:ext cx="354330" cy="35433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160770" y="6515100"/>
            <a:ext cx="354330" cy="35433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15100" y="6515100"/>
            <a:ext cx="354330" cy="35433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869429" y="6515100"/>
            <a:ext cx="354330" cy="35433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389120" y="6869429"/>
            <a:ext cx="354330" cy="35433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743450" y="6869429"/>
            <a:ext cx="354330" cy="35433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097780" y="6869429"/>
            <a:ext cx="354330" cy="35433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452110" y="6869429"/>
            <a:ext cx="354330" cy="35433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806440" y="6869429"/>
            <a:ext cx="354330" cy="35433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160770" y="6869429"/>
            <a:ext cx="354330" cy="35433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515100" y="6869429"/>
            <a:ext cx="354330" cy="35433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869429" y="6869429"/>
            <a:ext cx="354330" cy="35433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442269" y="4431639"/>
            <a:ext cx="248031" cy="2692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40">
                <a:solidFill>
                  <a:srgbClr val="141923"/>
                </a:solidFill>
                <a:latin typeface="DejaVu Sans"/>
              </a:rPr>
              <a:t>♛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859589" y="4785969"/>
            <a:ext cx="248031" cy="2692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40">
                <a:solidFill>
                  <a:srgbClr val="141923"/>
                </a:solidFill>
                <a:latin typeface="DejaVu Sans"/>
              </a:rPr>
              <a:t>♛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922579" y="5140299"/>
            <a:ext cx="248031" cy="2692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40">
                <a:solidFill>
                  <a:srgbClr val="141923"/>
                </a:solidFill>
                <a:latin typeface="DejaVu Sans"/>
              </a:rPr>
              <a:t>♛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213919" y="5494629"/>
            <a:ext cx="248031" cy="2692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40">
                <a:solidFill>
                  <a:srgbClr val="141923"/>
                </a:solidFill>
                <a:latin typeface="DejaVu Sans"/>
              </a:rPr>
              <a:t>♛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150929" y="5848959"/>
            <a:ext cx="248031" cy="2692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40">
                <a:solidFill>
                  <a:srgbClr val="141923"/>
                </a:solidFill>
                <a:latin typeface="DejaVu Sans"/>
              </a:rPr>
              <a:t>♛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568249" y="6203289"/>
            <a:ext cx="248031" cy="2692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40">
                <a:solidFill>
                  <a:srgbClr val="141923"/>
                </a:solidFill>
                <a:latin typeface="DejaVu Sans"/>
              </a:rPr>
              <a:t>♛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796599" y="6557619"/>
            <a:ext cx="248031" cy="2692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40">
                <a:solidFill>
                  <a:srgbClr val="141923"/>
                </a:solidFill>
                <a:latin typeface="DejaVu Sans"/>
              </a:rPr>
              <a:t>♛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505259" y="6911949"/>
            <a:ext cx="248031" cy="2692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40">
                <a:solidFill>
                  <a:srgbClr val="141923"/>
                </a:solidFill>
                <a:latin typeface="DejaVu Sans"/>
              </a:rPr>
              <a:t>♛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651760" y="7360920"/>
            <a:ext cx="65836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646C78"/>
                </a:solidFill>
                <a:latin typeface="Aptos Display"/>
              </a:rPr>
              <a:t>If a position is unsafe, the algorithm moves 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65CAA"/>
                </a:solidFill>
                <a:latin typeface="Aptos Display"/>
              </a:rPr>
              <a:t>N-QUEENS VISUALIZER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28600"/>
            <a:ext cx="502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646C78"/>
                </a:solidFill>
                <a:latin typeface="Aptos Display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8368"/>
            <a:ext cx="11155680" cy="22860"/>
          </a:xfrm>
          <a:prstGeom prst="rect">
            <a:avLst/>
          </a:prstGeom>
          <a:solidFill>
            <a:srgbClr val="26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87552"/>
            <a:ext cx="96012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900" b="1">
                <a:solidFill>
                  <a:srgbClr val="141923"/>
                </a:solidFill>
                <a:latin typeface="Aptos Display"/>
              </a:rPr>
              <a:t>From user input to a visible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57400"/>
            <a:ext cx="2011680" cy="132588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67712"/>
            <a:ext cx="17373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65CAA"/>
                </a:solidFill>
                <a:latin typeface="Aptos Display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33472"/>
            <a:ext cx="1737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141923"/>
                </a:solidFill>
                <a:latin typeface="Aptos Display"/>
              </a:rPr>
              <a:t>Choose 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42032" y="2496312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265CAA"/>
                </a:solidFill>
                <a:latin typeface="Aptos Display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2057400"/>
            <a:ext cx="2011680" cy="132588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79" y="2267712"/>
            <a:ext cx="17373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65CAA"/>
                </a:solidFill>
                <a:latin typeface="Aptos Display"/>
              </a:rPr>
              <a:t>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79" y="2633472"/>
            <a:ext cx="1737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141923"/>
                </a:solidFill>
                <a:latin typeface="Aptos Display"/>
              </a:rPr>
              <a:t>Create chessboard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8031" y="2496312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265CAA"/>
                </a:solidFill>
                <a:latin typeface="Aptos Display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2057400"/>
            <a:ext cx="2011680" cy="132588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2267712"/>
            <a:ext cx="17373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65CAA"/>
                </a:solidFill>
                <a:latin typeface="Aptos Display"/>
              </a:rPr>
              <a:t>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633472"/>
            <a:ext cx="1737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141923"/>
                </a:solidFill>
                <a:latin typeface="Aptos Display"/>
              </a:rPr>
              <a:t>Test positions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1" y="2496312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265CAA"/>
                </a:solidFill>
                <a:latin typeface="Aptos Display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2057400"/>
            <a:ext cx="2011680" cy="132588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0" y="2267712"/>
            <a:ext cx="17373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65CAA"/>
                </a:solidFill>
                <a:latin typeface="Aptos Display"/>
              </a:rPr>
              <a:t>DECIDE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2633472"/>
            <a:ext cx="1737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141923"/>
                </a:solidFill>
                <a:latin typeface="Aptos Display"/>
              </a:rPr>
              <a:t>Place / reject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0032" y="2496312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265CAA"/>
                </a:solidFill>
                <a:latin typeface="Aptos Display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46920" y="2057400"/>
            <a:ext cx="2011680" cy="132588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2267712"/>
            <a:ext cx="17373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65CAA"/>
                </a:solidFill>
                <a:latin typeface="Aptos Display"/>
              </a:rP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2633472"/>
            <a:ext cx="1737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141923"/>
                </a:solidFill>
                <a:latin typeface="Aptos Display"/>
              </a:rPr>
              <a:t>Show stats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24528" y="3904487"/>
            <a:ext cx="3072384" cy="3072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80" y="3977639"/>
            <a:ext cx="365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63440" y="3977639"/>
            <a:ext cx="365760" cy="3657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0" y="3977639"/>
            <a:ext cx="365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394960" y="3977639"/>
            <a:ext cx="365760" cy="3657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760720" y="3977639"/>
            <a:ext cx="365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26480" y="3977639"/>
            <a:ext cx="365760" cy="3657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2240" y="3977639"/>
            <a:ext cx="365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0" y="3977639"/>
            <a:ext cx="365760" cy="3657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97680" y="4343400"/>
            <a:ext cx="365760" cy="3657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663440" y="4343400"/>
            <a:ext cx="365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4343400"/>
            <a:ext cx="365760" cy="3657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94960" y="4343400"/>
            <a:ext cx="365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760720" y="4343400"/>
            <a:ext cx="365760" cy="3657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26480" y="4343400"/>
            <a:ext cx="365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92240" y="4343400"/>
            <a:ext cx="365760" cy="3657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858000" y="4343400"/>
            <a:ext cx="365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97680" y="4709159"/>
            <a:ext cx="365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663440" y="4709159"/>
            <a:ext cx="365760" cy="3657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29200" y="4709159"/>
            <a:ext cx="365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394960" y="4709159"/>
            <a:ext cx="365760" cy="3657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760720" y="4709159"/>
            <a:ext cx="365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26480" y="4709159"/>
            <a:ext cx="365760" cy="3657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92240" y="4709159"/>
            <a:ext cx="365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58000" y="4709159"/>
            <a:ext cx="365760" cy="3657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297680" y="5074920"/>
            <a:ext cx="365760" cy="3657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663440" y="5074920"/>
            <a:ext cx="365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29200" y="5074920"/>
            <a:ext cx="365760" cy="3657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94960" y="5074920"/>
            <a:ext cx="365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760720" y="5074920"/>
            <a:ext cx="365760" cy="3657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126480" y="5074920"/>
            <a:ext cx="365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492240" y="5074920"/>
            <a:ext cx="365760" cy="3657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858000" y="5074920"/>
            <a:ext cx="365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297680" y="5440679"/>
            <a:ext cx="365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663440" y="5440679"/>
            <a:ext cx="365760" cy="3657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029200" y="5440679"/>
            <a:ext cx="365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94960" y="5440679"/>
            <a:ext cx="365760" cy="3657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760720" y="5440679"/>
            <a:ext cx="365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126480" y="5440679"/>
            <a:ext cx="365760" cy="3657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492240" y="5440679"/>
            <a:ext cx="365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858000" y="5440679"/>
            <a:ext cx="365760" cy="3657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297680" y="5806440"/>
            <a:ext cx="365760" cy="3657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663440" y="5806440"/>
            <a:ext cx="365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029200" y="5806440"/>
            <a:ext cx="365760" cy="3657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394960" y="5806440"/>
            <a:ext cx="365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760720" y="5806440"/>
            <a:ext cx="365760" cy="3657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6480" y="5806440"/>
            <a:ext cx="365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492240" y="5806440"/>
            <a:ext cx="365760" cy="3657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5806440"/>
            <a:ext cx="365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297680" y="6172200"/>
            <a:ext cx="365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663440" y="6172200"/>
            <a:ext cx="365760" cy="3657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029200" y="6172200"/>
            <a:ext cx="365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394960" y="6172200"/>
            <a:ext cx="365760" cy="3657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760720" y="6172200"/>
            <a:ext cx="365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126480" y="6172200"/>
            <a:ext cx="365760" cy="3657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492240" y="6172200"/>
            <a:ext cx="365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58000" y="6172200"/>
            <a:ext cx="365760" cy="3657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297680" y="6537960"/>
            <a:ext cx="365760" cy="3657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663440" y="6537960"/>
            <a:ext cx="365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5029200" y="6537960"/>
            <a:ext cx="365760" cy="3657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394960" y="6537960"/>
            <a:ext cx="365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760720" y="6537960"/>
            <a:ext cx="365760" cy="3657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126480" y="6537960"/>
            <a:ext cx="365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492240" y="6537960"/>
            <a:ext cx="365760" cy="365760"/>
          </a:xfrm>
          <a:prstGeom prst="rect">
            <a:avLst/>
          </a:prstGeom>
          <a:solidFill>
            <a:srgbClr val="EBF3FD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858000" y="6537960"/>
            <a:ext cx="365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352544" y="4021531"/>
            <a:ext cx="256031" cy="2779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80">
                <a:solidFill>
                  <a:srgbClr val="141923"/>
                </a:solidFill>
                <a:latin typeface="DejaVu Sans"/>
              </a:rPr>
              <a:t>♛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815584" y="4387291"/>
            <a:ext cx="256031" cy="2779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80">
                <a:solidFill>
                  <a:srgbClr val="141923"/>
                </a:solidFill>
                <a:latin typeface="DejaVu Sans"/>
              </a:rPr>
              <a:t>♛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12864" y="4753051"/>
            <a:ext cx="256031" cy="2779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80">
                <a:solidFill>
                  <a:srgbClr val="141923"/>
                </a:solidFill>
                <a:latin typeface="DejaVu Sans"/>
              </a:rPr>
              <a:t>♛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181344" y="5118811"/>
            <a:ext cx="256031" cy="2779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80">
                <a:solidFill>
                  <a:srgbClr val="141923"/>
                </a:solidFill>
                <a:latin typeface="DejaVu Sans"/>
              </a:rPr>
              <a:t>♛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084064" y="5484571"/>
            <a:ext cx="256031" cy="2779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80">
                <a:solidFill>
                  <a:srgbClr val="141923"/>
                </a:solidFill>
                <a:latin typeface="DejaVu Sans"/>
              </a:rPr>
              <a:t>♛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547104" y="5850331"/>
            <a:ext cx="256031" cy="2779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80">
                <a:solidFill>
                  <a:srgbClr val="141923"/>
                </a:solidFill>
                <a:latin typeface="DejaVu Sans"/>
              </a:rPr>
              <a:t>♛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718304" y="6216091"/>
            <a:ext cx="256031" cy="2779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80">
                <a:solidFill>
                  <a:srgbClr val="141923"/>
                </a:solidFill>
                <a:latin typeface="DejaVu Sans"/>
              </a:rPr>
              <a:t>♛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449824" y="6581851"/>
            <a:ext cx="256031" cy="2779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80">
                <a:solidFill>
                  <a:srgbClr val="141923"/>
                </a:solidFill>
                <a:latin typeface="DejaVu Sans"/>
              </a:rPr>
              <a:t>♛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97280" y="7315200"/>
            <a:ext cx="96926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646C78"/>
                </a:solidFill>
                <a:latin typeface="Aptos Display"/>
              </a:rPr>
              <a:t>N = 8  →  explore choices  →  reject conflicts  →  backtrack  →  discover solutions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65CAA"/>
                </a:solidFill>
                <a:latin typeface="Aptos Display"/>
              </a:rPr>
              <a:t>N-QUEENS VISUALIZER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28600"/>
            <a:ext cx="502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646C78"/>
                </a:solidFill>
                <a:latin typeface="Aptos Display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8368"/>
            <a:ext cx="11155680" cy="22860"/>
          </a:xfrm>
          <a:prstGeom prst="rect">
            <a:avLst/>
          </a:prstGeom>
          <a:solidFill>
            <a:srgbClr val="26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87552"/>
            <a:ext cx="96012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900" b="1">
                <a:solidFill>
                  <a:srgbClr val="141923"/>
                </a:solidFill>
                <a:latin typeface="Aptos Display"/>
              </a:rPr>
              <a:t>Simple stack: browser + JavaScript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65960"/>
            <a:ext cx="342900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286000"/>
            <a:ext cx="594360" cy="594360"/>
          </a:xfrm>
          <a:prstGeom prst="ellipse">
            <a:avLst/>
          </a:prstGeom>
          <a:solidFill>
            <a:srgbClr val="26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2834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265CAA"/>
                </a:solidFill>
                <a:latin typeface="Aptos Display"/>
              </a:rPr>
              <a:t>FRONT 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566160"/>
            <a:ext cx="28346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41923"/>
                </a:solidFill>
                <a:latin typeface="Aptos Display"/>
              </a:rPr>
              <a:t>HTML • CSS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160520"/>
            <a:ext cx="2834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46C78"/>
                </a:solidFill>
                <a:latin typeface="Aptos Display"/>
              </a:rPr>
              <a:t>Interactive chessboard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965960"/>
            <a:ext cx="342900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0" y="2286000"/>
            <a:ext cx="594360" cy="594360"/>
          </a:xfrm>
          <a:prstGeom prst="ellipse">
            <a:avLst/>
          </a:prstGeom>
          <a:solidFill>
            <a:srgbClr val="D69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3063240"/>
            <a:ext cx="2834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D69D2D"/>
                </a:solidFill>
                <a:latin typeface="Aptos Display"/>
              </a:rPr>
              <a:t>ALGORITHM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566160"/>
            <a:ext cx="28346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41923"/>
                </a:solidFill>
                <a:latin typeface="Aptos Display"/>
              </a:rPr>
              <a:t>Recursive Backtracking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160520"/>
            <a:ext cx="2834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46C78"/>
                </a:solidFill>
                <a:latin typeface="Aptos Display"/>
              </a:rPr>
              <a:t>Column + diagonal safety checks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965960"/>
            <a:ext cx="342900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75320" y="2286000"/>
            <a:ext cx="594360" cy="594360"/>
          </a:xfrm>
          <a:prstGeom prst="ellipse">
            <a:avLst/>
          </a:prstGeom>
          <a:solidFill>
            <a:srgbClr val="2D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3063240"/>
            <a:ext cx="2834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2D915C"/>
                </a:solidFill>
                <a:latin typeface="Aptos Display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566160"/>
            <a:ext cx="28346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41923"/>
                </a:solidFill>
                <a:latin typeface="Aptos Display"/>
              </a:rPr>
              <a:t>Solutions • Decisions • Conflicts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4160520"/>
            <a:ext cx="2834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46C78"/>
                </a:solidFill>
                <a:latin typeface="Aptos Display"/>
              </a:rPr>
              <a:t>Execution time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00200" y="5623560"/>
            <a:ext cx="9052560" cy="77724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5806440"/>
            <a:ext cx="8595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646C78"/>
                </a:solidFill>
                <a:latin typeface="Aptos Display"/>
              </a:rPr>
              <a:t>No database  •  No external packages  •  Open index.html directly in a modern browser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743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65CAA"/>
                </a:solidFill>
                <a:latin typeface="Aptos Display"/>
              </a:rPr>
              <a:t>N-QUEENS VISUALIZER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28600"/>
            <a:ext cx="502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646C78"/>
                </a:solidFill>
                <a:latin typeface="Aptos Display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8368"/>
            <a:ext cx="11155680" cy="22860"/>
          </a:xfrm>
          <a:prstGeom prst="rect">
            <a:avLst/>
          </a:prstGeom>
          <a:solidFill>
            <a:srgbClr val="26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87552"/>
            <a:ext cx="96012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900" b="1">
                <a:solidFill>
                  <a:srgbClr val="141923"/>
                </a:solidFill>
                <a:latin typeface="Aptos Display"/>
              </a:rPr>
              <a:t>A compact DAA project with a clear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32461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2560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265CAA"/>
                </a:solidFill>
                <a:latin typeface="Aptos Display"/>
              </a:rPr>
              <a:t>COMPLEXITY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25603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200" b="1">
                <a:solidFill>
                  <a:srgbClr val="141923"/>
                </a:solidFill>
                <a:latin typeface="Aptos Display"/>
              </a:rPr>
              <a:t>O(N!)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256032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46C78"/>
                </a:solidFill>
                <a:latin typeface="Aptos Display"/>
              </a:rPr>
              <a:t>Worst-case search is exponential.
Space: O(N)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1874519"/>
            <a:ext cx="32461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2148840"/>
            <a:ext cx="2560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265CAA"/>
                </a:solidFill>
                <a:latin typeface="Aptos Display"/>
              </a:rPr>
              <a:t>TEST CASES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697480"/>
            <a:ext cx="2560320" cy="1417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141923"/>
                </a:solidFill>
                <a:latin typeface="Aptos Display"/>
              </a:rPr>
              <a:t>N = 4   →   2
N = 5   →   10
N = 8   →   92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1874519"/>
            <a:ext cx="32461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2148840"/>
            <a:ext cx="2560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265CAA"/>
                </a:solidFill>
                <a:latin typeface="Aptos Display"/>
              </a:rPr>
              <a:t>SUBMISSION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651760"/>
            <a:ext cx="2560320" cy="1554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41923"/>
                </a:solidFill>
                <a:latin typeface="Aptos Display"/>
              </a:rPr>
              <a:t>PPT
REPORT
index.html
README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5257800"/>
            <a:ext cx="8046720" cy="960120"/>
          </a:xfrm>
          <a:prstGeom prst="roundRect">
            <a:avLst/>
          </a:prstGeom>
          <a:solidFill>
            <a:srgbClr val="EBF3FD"/>
          </a:solidFill>
          <a:ln w="12700"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11680" y="5486400"/>
            <a:ext cx="76809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65CAA"/>
                </a:solidFill>
                <a:latin typeface="Aptos Display"/>
              </a:rPr>
              <a:t>FINAL STEP  •  Paste your GitHub repository URL into the Project Details Sheet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